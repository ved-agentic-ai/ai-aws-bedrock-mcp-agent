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9900"/>
                </a:solidFill>
              </a:defRPr>
            </a:pPr>
            <a:r>
              <a:t>Enterprise Agentic AI Control Center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Production-Grade Decoupled AI Architecture on AWS Bedrock &amp; Model Context Protocol (MCP)</a:t>
            </a:r>
          </a:p>
          <a:p>
            <a:pPr>
              <a:spcBef>
                <a:spcPts val="2400"/>
              </a:spcBef>
              <a:defRPr sz="1400">
                <a:solidFill>
                  <a:srgbClr val="06B6D4"/>
                </a:solidFill>
              </a:defRPr>
            </a:pPr>
            <a:r>
              <a:t>Amazon Bedrock (Nova Micro)  •  AWS Lambda  •  Model Context Protocol (MCP)  •  Amazon DynamoDB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Executive Overview &amp; Architectural Shift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</a:defRPr>
            </a:pPr>
            <a:r>
              <a:t>Moving from monolithic prompt engineering to standardized Model Context Protocol (MCP) standards.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C3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❌ Legacy Monolithic AI Architecture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Hardcoded tool definitions tightly coupled to specific LLM providers.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High risk of vendor lock-in when migrating models.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Direct database access from prompts creates security vulnerabilities.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High idle infrastructure costs on dedicated virtual machines.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41C3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✅ Modern Agentic MCP Architecture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Standardized JSON-RPC protocol (tools/list &amp; tools/call).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Zero Vendor Lock-In: Swap underlying LLMs in 1 config change.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Zero-Trust Isolation: MCP Lambda sandbox handles DB execution.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Pay-Per-Request Serverless: 100% idle cost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System Architecture on AWS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</a:defRPr>
            </a:pPr>
            <a:r>
              <a:t>Decoupling intelligence from execution via AWS Serverless primitives.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31520"/>
          </a:xfrm>
          <a:prstGeom prst="roundRect">
            <a:avLst/>
          </a:prstGeom>
          <a:solidFill>
            <a:srgbClr val="141C30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1. Client Application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Web UI / Rest Client sends prompt via HTTP POST to API Gateway.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698480" cy="731520"/>
          </a:xfrm>
          <a:prstGeom prst="roundRect">
            <a:avLst/>
          </a:prstGeom>
          <a:solidFill>
            <a:srgbClr val="141C30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2. API Gateway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Provides REST endpoint, CORS handling, and SSL termination.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731520"/>
          </a:xfrm>
          <a:prstGeom prst="roundRect">
            <a:avLst/>
          </a:prstGeom>
          <a:solidFill>
            <a:srgbClr val="141C30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500" b="1">
                <a:solidFill>
                  <a:srgbClr val="EC4899"/>
                </a:solidFill>
              </a:defRPr>
            </a:pPr>
            <a:r>
              <a:t>3. Bedrock Agent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Amazon Nova Micro executes reasoning loops &amp; tool discovery.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731520"/>
          </a:xfrm>
          <a:prstGeom prst="roundRect">
            <a:avLst/>
          </a:prstGeom>
          <a:solidFill>
            <a:srgbClr val="141C3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4. MCP Server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AWS Lambda executes standardized tools/list &amp; tools/call handlers.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141C3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500" b="1">
                <a:solidFill>
                  <a:srgbClr val="FF9900"/>
                </a:solidFill>
              </a:defRPr>
            </a:pPr>
            <a:r>
              <a:t>5. DynamoDB Storage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Pay-per-request session memory table with automatic 24h TTL.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Model Context Protocol (MCP) Technical Specification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</a:defRPr>
            </a:pPr>
            <a:r>
              <a:t>Understanding JSON-RPC standard payloads for AI Tool Discovery and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C3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1. Tool Discovery (tools/list)</a:t>
            </a:r>
          </a:p>
          <a:p>
            <a:pPr>
              <a:spcBef>
                <a:spcPts val="1000"/>
              </a:spcBef>
              <a:defRPr sz="1100">
                <a:solidFill>
                  <a:srgbClr val="38BDF8"/>
                </a:solidFill>
              </a:defRPr>
            </a:pPr>
            <a:r>
              <a:t>{</a:t>
            </a:r>
            <a:br/>
            <a:r>
              <a:t>  "tools": [</a:t>
            </a:r>
            <a:br/>
            <a:r>
              <a:t>    {</a:t>
            </a:r>
            <a:br/>
            <a:r>
              <a:t>      "name": "query_database",</a:t>
            </a:r>
            <a:br/>
            <a:r>
              <a:t>      "description": "Query session history",</a:t>
            </a:r>
            <a:br/>
            <a:r>
              <a:t>      "input_schema": {</a:t>
            </a:r>
            <a:br/>
            <a:r>
              <a:t>        "type": "object",</a:t>
            </a:r>
            <a:br/>
            <a:r>
              <a:t>        "properties": {</a:t>
            </a:r>
            <a:br/>
            <a:r>
              <a:t>          "session_id": { "type": "string" }</a:t>
            </a:r>
            <a:br/>
            <a:r>
              <a:t>        },</a:t>
            </a:r>
            <a:br/>
            <a:r>
              <a:t>        "required": ["session_id"]</a:t>
            </a:r>
            <a:br/>
            <a:r>
              <a:t>      }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41C3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2. Tool Execution (tools/call)</a:t>
            </a:r>
          </a:p>
          <a:p>
            <a:pPr>
              <a:spcBef>
                <a:spcPts val="1000"/>
              </a:spcBef>
              <a:defRPr sz="1100">
                <a:solidFill>
                  <a:srgbClr val="FBBF24"/>
                </a:solidFill>
              </a:defRPr>
            </a:pPr>
            <a:r>
              <a:t>{</a:t>
            </a:r>
            <a:br/>
            <a:r>
              <a:t>  "action": "tools/call",</a:t>
            </a:r>
            <a:br/>
            <a:r>
              <a:t>  "name": "save_session_data",</a:t>
            </a:r>
            <a:br/>
            <a:r>
              <a:t>  "arguments": {</a:t>
            </a:r>
            <a:br/>
            <a:r>
              <a:t>    "session_id": "session_101",</a:t>
            </a:r>
            <a:br/>
            <a:r>
              <a:t>    "content": "Purchased Prime Upgrade"</a:t>
            </a:r>
            <a:br/>
            <a:r>
              <a:t>  }</a:t>
            </a:r>
            <a:br/>
            <a:r>
              <a:t>}</a:t>
            </a:r>
            <a:br/>
            <a:br/>
            <a:r>
              <a:t>// Result Output:</a:t>
            </a:r>
            <a:br/>
            <a:r>
              <a:t>{</a:t>
            </a:r>
            <a:br/>
            <a:r>
              <a:t>  "status": "success",</a:t>
            </a:r>
            <a:br/>
            <a:r>
              <a:t>  "message": "Item stored in DynamoDB"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AWS Infrastructure &amp; Resource Mapping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</a:defRPr>
            </a:pPr>
            <a:r>
              <a:t>Complete CloudFormation serverless stack components.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931920"/>
                <a:gridCol w="1828800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9900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9900"/>
                          </a:solidFill>
                        </a:defRPr>
                      </a:pPr>
                      <a:r>
                        <a:t>AWS Resource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9900"/>
                          </a:solidFill>
                        </a:defRPr>
                      </a:pPr>
                      <a:r>
                        <a:t>Role &amp; Purpose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9900"/>
                          </a:solidFill>
                        </a:defRPr>
                      </a:pPr>
                      <a:r>
                        <a:t>Billing Mode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Reasoning Engine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Amazon Bedrock (Nova Micro)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Autonomous reasoning and tool synthesis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 1K Tokens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Control Loop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AWS Lambda (Agent Runtime)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Orchestrates Converse API and tool loops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 Millisecond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MCP Server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AWS Lambda (MCP Tool Server)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Executes database and API logic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 Millisecond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Session Storage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Amazon DynamoDB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Pay-per-request session memory table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On-Demand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AWS CloudFormation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100% IaC stack automated deployment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Free Tier</a:t>
                      </a:r>
                    </a:p>
                  </a:txBody>
                  <a:tcPr>
                    <a:solidFill>
                      <a:srgbClr val="0709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